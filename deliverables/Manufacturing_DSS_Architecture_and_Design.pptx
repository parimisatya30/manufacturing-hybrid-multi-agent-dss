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Manufacturing Decision Support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Agentic AI for an E-Bike Production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/>
            </a:pPr>
            <a:r>
              <a:t>Three workflows: predictive maintenance, root cause analysis, defect monitoring</a:t>
            </a:r>
          </a:p>
          <a:p>
            <a:pPr>
              <a:spcAft>
                <a:spcPts val="1200"/>
              </a:spcAft>
              <a:defRPr sz="2300"/>
            </a:pPr>
            <a:r>
              <a:t>Structured MES facts + unstructured manufacturing guidance</a:t>
            </a:r>
          </a:p>
          <a:p>
            <a:pPr>
              <a:spcAft>
                <a:spcPts val="1200"/>
              </a:spcAft>
              <a:defRPr sz="2300"/>
            </a:pPr>
            <a:r>
              <a:t>Evidence-first responses with visible data gaps and traceability</a:t>
            </a:r>
          </a:p>
          <a:p>
            <a:pPr>
              <a:spcAft>
                <a:spcPts val="1200"/>
              </a:spcAft>
              <a:defRPr sz="2300"/>
            </a:pPr>
            <a:r>
              <a:t>Human approval gate for critical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Take-home assignment | Architecture-focused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an agentic DSS?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Static dashboards summarize known metrics but do not answer cross-source investigative questions.</a:t>
            </a:r>
          </a:p>
          <a:p>
            <a:pPr>
              <a:spcAft>
                <a:spcPts val="1200"/>
              </a:spcAft>
              <a:defRPr sz="2100"/>
            </a:pPr>
            <a:r>
              <a:t>A plain chatbot risks unsupported answers when it lacks controlled access to MES facts and procedures.</a:t>
            </a:r>
          </a:p>
          <a:p>
            <a:pPr>
              <a:spcAft>
                <a:spcPts val="1200"/>
              </a:spcAft>
              <a:defRPr sz="2100"/>
            </a:pPr>
            <a:r>
              <a:t>Bounded orchestration selects tools, gathers evidence, applies deterministic policy, and synthesizes a response.</a:t>
            </a:r>
          </a:p>
          <a:p>
            <a:pPr>
              <a:spcAft>
                <a:spcPts val="1200"/>
              </a:spcAft>
              <a:defRPr sz="2100"/>
            </a:pPr>
            <a:r>
              <a:t>The LLM assists interpretation; it does not own database truth, approval policy, or physical machine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Logical architecture — prototype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1828800" cy="73152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Operator / Engineer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63040"/>
            <a:ext cx="1920240" cy="73152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Streamlit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63040"/>
            <a:ext cx="2011680" cy="73152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FastAPI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63040"/>
            <a:ext cx="2194560" cy="73152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Workflow /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194560" cy="82296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MES.db</a:t>
            </a:r>
          </a:p>
          <a:p>
            <a:r>
              <a:rPr>
                <a:solidFill>
                  <a:srgbClr val="1C2A3C"/>
                </a:solidFill>
              </a:rPr>
              <a:t>Read-only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657600"/>
            <a:ext cx="2194560" cy="82296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Reference PDFs</a:t>
            </a:r>
          </a:p>
          <a:p>
            <a:r>
              <a:rPr>
                <a:solidFill>
                  <a:srgbClr val="1C2A3C"/>
                </a:solidFill>
              </a:rPr>
              <a:t>RAG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657600"/>
            <a:ext cx="2194560" cy="82296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Rules + approval</a:t>
            </a:r>
          </a:p>
          <a:p>
            <a:r>
              <a:rPr>
                <a:solidFill>
                  <a:srgbClr val="1C2A3C"/>
                </a:solidFill>
              </a:rPr>
              <a:t>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657600"/>
            <a:ext cx="2194560" cy="822960"/>
          </a:xfrm>
          <a:prstGeom prst="roundRect">
            <a:avLst/>
          </a:prstGeom>
          <a:solidFill>
            <a:srgbClr val="E1EE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rgbClr val="1C2A3C"/>
                </a:solidFill>
              </a:rPr>
              <a:t>LLM synthesis</a:t>
            </a:r>
          </a:p>
          <a:p>
            <a:r>
              <a:rPr>
                <a:solidFill>
                  <a:srgbClr val="1C2A3C"/>
                </a:solidFill>
              </a:rPr>
              <a:t>structured 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1828800"/>
            <a:ext cx="50292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1828800"/>
            <a:ext cx="64008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1828800"/>
            <a:ext cx="640079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69680" y="2194560"/>
            <a:ext cx="0" cy="77724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8800" y="2971800"/>
            <a:ext cx="877824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2971800"/>
            <a:ext cx="0" cy="68580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54880" y="2971800"/>
            <a:ext cx="0" cy="68580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2971800"/>
            <a:ext cx="0" cy="68580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07040" y="2971800"/>
            <a:ext cx="0" cy="68580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rPr>
                <a:solidFill>
                  <a:srgbClr val="1C2A3C"/>
                </a:solidFill>
              </a:rPr>
              <a:t>Approval decisions persist in a separate SQLite store. The prototype records approvals; it does not execute physical machine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Three operational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Predictive maintenance: correlate machine/sensor and prediction records with documented maintenance guidance.</a:t>
            </a:r>
          </a:p>
          <a:p>
            <a:pPr>
              <a:spcAft>
                <a:spcPts val="1200"/>
              </a:spcAft>
              <a:defRPr sz="2000"/>
            </a:pPr>
            <a:r>
              <a:t>Root cause analysis: combine quality/defect/work-order facts with the RCA guide; label hypotheses clearly.</a:t>
            </a:r>
          </a:p>
          <a:p>
            <a:pPr>
              <a:spcAft>
                <a:spcPts val="1200"/>
              </a:spcAft>
              <a:defRPr sz="2000"/>
            </a:pPr>
            <a:r>
              <a:t>Defect monitoring: summarize defect volume/severity/station and evaluate configured thresholds.</a:t>
            </a:r>
          </a:p>
          <a:p>
            <a:pPr>
              <a:spcAft>
                <a:spcPts val="1200"/>
              </a:spcAft>
              <a:defRPr sz="2000"/>
            </a:pPr>
            <a:r>
              <a:t>Each workflow returns a decision-oriented summary, evidence/provenance, and data gaps where applicable.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Human oversight and approval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1800">
                <a:solidFill>
                  <a:srgbClr val="233041"/>
                </a:solidFill>
              </a:rPr>
              <a:t>Critical recommendation → approval record PENDING</a:t>
            </a:r>
          </a:p>
          <a:p>
            <a:r>
              <a:rPr sz="1800">
                <a:solidFill>
                  <a:srgbClr val="233041"/>
                </a:solidFill>
              </a:rPr>
              <a:t>Supervisor uses configured API key and supervisor role to approve or reject with a reason</a:t>
            </a:r>
          </a:p>
          <a:p>
            <a:r>
              <a:rPr sz="1800">
                <a:solidFill>
                  <a:srgbClr val="233041"/>
                </a:solidFill>
              </a:rPr>
              <a:t>Backend persists the decision and prevents overwriting an already-final decision</a:t>
            </a:r>
          </a:p>
          <a:p>
            <a:r>
              <a:rPr sz="1800">
                <a:solidFill>
                  <a:srgbClr val="233041"/>
                </a:solidFill>
              </a:rPr>
              <a:t>Approval records the decision; it does not trigger physical machine actions</a:t>
            </a:r>
          </a:p>
          <a:p>
            <a:r>
              <a:rPr sz="1800">
                <a:solidFill>
                  <a:srgbClr val="233041"/>
                </a:solidFill>
              </a:rPr>
              <a:t>Local API-key configuration is for demo only; production needs enterprise identity and hardened access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Evaluation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Correctness: compare reported counts, measurements and statuses with reproducible MES queries</a:t>
            </a:r>
          </a:p>
          <a:p>
            <a:pPr>
              <a:spcAft>
                <a:spcPts val="1200"/>
              </a:spcAft>
              <a:defRPr sz="2000"/>
            </a:pPr>
            <a:r>
              <a:t>Grounding: check claims against cited SQL rows and retrieved document passages</a:t>
            </a:r>
          </a:p>
          <a:p>
            <a:pPr>
              <a:spcAft>
                <a:spcPts val="1200"/>
              </a:spcAft>
              <a:defRPr sz="2000"/>
            </a:pPr>
            <a:r>
              <a:t>RAG: Recall@K, Precision@K, MRR; response faithfulness and relevance</a:t>
            </a:r>
          </a:p>
          <a:p>
            <a:pPr>
              <a:spcAft>
                <a:spcPts val="1200"/>
              </a:spcAft>
              <a:defRPr sz="2000"/>
            </a:pPr>
            <a:r>
              <a:t>Operational: latency, errors, timeout behavior, missing data, and request correlation</a:t>
            </a:r>
          </a:p>
          <a:p>
            <a:pPr>
              <a:spcAft>
                <a:spcPts val="1200"/>
              </a:spcAft>
              <a:defRPr sz="2000"/>
            </a:pPr>
            <a:r>
              <a:t>Approval: pending, approve, reject, missing reason, invalid ID, duplicate decision, restart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Trade-offs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Local prototype and mock data; no live production MES connection</a:t>
            </a:r>
          </a:p>
          <a:p>
            <a:pPr>
              <a:spcAft>
                <a:spcPts val="1200"/>
              </a:spcAft>
              <a:defRPr sz="2000"/>
            </a:pPr>
            <a:r>
              <a:t>LLM output is probabilistic; deterministic checks and visible evidence reduce—but do not eliminate—risk</a:t>
            </a:r>
          </a:p>
          <a:p>
            <a:pPr>
              <a:spcAft>
                <a:spcPts val="1200"/>
              </a:spcAft>
              <a:defRPr sz="2000"/>
            </a:pPr>
            <a:r>
              <a:t>Data/document freshness and incomplete measurements must be surfaced</a:t>
            </a:r>
          </a:p>
          <a:p>
            <a:pPr>
              <a:spcAft>
                <a:spcPts val="1200"/>
              </a:spcAft>
              <a:defRPr sz="2000"/>
            </a:pPr>
            <a:r>
              <a:t>No physical intervention is executed automatically after approval</a:t>
            </a:r>
          </a:p>
          <a:p>
            <a:pPr>
              <a:spcAft>
                <a:spcPts val="1200"/>
              </a:spcAft>
              <a:defRPr sz="2000"/>
            </a:pPr>
            <a:r>
              <a:t>Next steps: production identity, job queue, OpenTelemetry, curated evaluation set, safe MES/CMMS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Start API and UI; verify health endpoint</a:t>
            </a:r>
          </a:p>
          <a:p>
            <a:pPr>
              <a:spcAft>
                <a:spcPts val="1200"/>
              </a:spcAft>
              <a:defRPr sz="2000"/>
            </a:pPr>
            <a:r>
              <a:t>2. Run predictive maintenance and inspect evidence + data gaps</a:t>
            </a:r>
          </a:p>
          <a:p>
            <a:pPr>
              <a:spcAft>
                <a:spcPts val="1200"/>
              </a:spcAft>
              <a:defRPr sz="2000"/>
            </a:pPr>
            <a:r>
              <a:t>3. Run RCA and defect monitoring</a:t>
            </a:r>
          </a:p>
          <a:p>
            <a:pPr>
              <a:spcAft>
                <a:spcPts val="1200"/>
              </a:spcAft>
              <a:defRPr sz="2000"/>
            </a:pPr>
            <a:r>
              <a:t>4. For a critical case, submit approval and verify persisted status</a:t>
            </a:r>
          </a:p>
          <a:p>
            <a:pPr>
              <a:spcAft>
                <a:spcPts val="1200"/>
              </a:spcAft>
              <a:defRPr sz="2000"/>
            </a:pPr>
            <a:r>
              <a:t>5. Show test output, repository structure, README and architecture diagram</a:t>
            </a:r>
          </a:p>
          <a:p>
            <a:pPr>
              <a:spcAft>
                <a:spcPts val="1200"/>
              </a:spcAft>
              <a:defRPr sz="2000"/>
            </a:pPr>
            <a:r>
              <a:t>State clearly which checks were run and any known limitations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3052"/>
                </a:solidFill>
                <a:latin typeface="Aptos Display"/>
              </a:rPr>
              <a:t>Technology stack and 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B6C"/>
                </a:solidFill>
              </a:rPr>
              <a:t>Lightweight local prototype — choose inspectability and controlled decision logic over unnecessary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57800" cy="1737360"/>
          </a:xfrm>
          <a:prstGeom prst="roundRect">
            <a:avLst/>
          </a:prstGeom>
          <a:solidFill>
            <a:srgbClr val="E6EFF9"/>
          </a:solidFill>
          <a:ln>
            <a:solidFill>
              <a:srgbClr val="A6B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28016"/>
          <a:lstStyle/>
          <a:p>
            <a:pPr algn="ctr">
              <a:defRPr sz="1800" b="1">
                <a:solidFill>
                  <a:srgbClr val="14406E"/>
                </a:solidFill>
              </a:defRPr>
            </a:pPr>
            <a:r>
              <a:t>API &amp; UI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FastAPI — REST endpoints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Streamlit — operator interface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Pydantic — request/response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1737360"/>
          </a:xfrm>
          <a:prstGeom prst="roundRect">
            <a:avLst/>
          </a:prstGeom>
          <a:solidFill>
            <a:srgbClr val="E6EFF9"/>
          </a:solidFill>
          <a:ln>
            <a:solidFill>
              <a:srgbClr val="A6B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28016"/>
          <a:lstStyle/>
          <a:p>
            <a:pPr algn="ctr">
              <a:defRPr sz="1800" b="1">
                <a:solidFill>
                  <a:srgbClr val="14406E"/>
                </a:solidFill>
              </a:defRPr>
            </a:pPr>
            <a:r>
              <a:t>Data &amp; retrieval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SQLite — MES facts and approval records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Sentence Transformers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all-MiniLM-L6-v2 embeddings (384 dimensions)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Custom in-memory vector store in current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03320"/>
            <a:ext cx="5257800" cy="1737360"/>
          </a:xfrm>
          <a:prstGeom prst="roundRect">
            <a:avLst/>
          </a:prstGeom>
          <a:solidFill>
            <a:srgbClr val="E6EFF9"/>
          </a:solidFill>
          <a:ln>
            <a:solidFill>
              <a:srgbClr val="A6B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28016"/>
          <a:lstStyle/>
          <a:p>
            <a:pPr algn="ctr">
              <a:defRPr sz="1800" b="1">
                <a:solidFill>
                  <a:srgbClr val="14406E"/>
                </a:solidFill>
              </a:defRPr>
            </a:pPr>
            <a:r>
              <a:t>LLM &amp; decisions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Ollama — Gemma 3 4B (default)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Deterministic rules and approval policy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LLM explains evidence; it does not own database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703320"/>
            <a:ext cx="5257800" cy="1737360"/>
          </a:xfrm>
          <a:prstGeom prst="roundRect">
            <a:avLst/>
          </a:prstGeom>
          <a:solidFill>
            <a:srgbClr val="E6EFF9"/>
          </a:solidFill>
          <a:ln>
            <a:solidFill>
              <a:srgbClr val="A6B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28016"/>
          <a:lstStyle/>
          <a:p>
            <a:pPr algn="ctr">
              <a:defRPr sz="1800" b="1">
                <a:solidFill>
                  <a:srgbClr val="14406E"/>
                </a:solidFill>
              </a:defRPr>
            </a:pPr>
            <a:r>
              <a:t>Quality &amp; operations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Pytest — automated tests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Request IDs, logging and API-level tracing</a:t>
            </a:r>
          </a:p>
          <a:p>
            <a:pPr>
              <a:spcAft>
                <a:spcPts val="200"/>
              </a:spcAft>
              <a:defRPr sz="1300">
                <a:solidFill>
                  <a:srgbClr val="1F2D3D"/>
                </a:solidFill>
              </a:defRPr>
            </a:pPr>
            <a:r>
              <a:t>OpenTelemetry instrumentation; validate exporter/runtime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85462"/>
                </a:solidFill>
              </a:rPr>
              <a:t>Production extensions: enterprise identity, durable job queue, versioned document ingestion, measured retrieval evaluation, and controlled MES/CMMS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